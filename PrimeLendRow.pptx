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1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70337"/>
            <a:ext cx="6949440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Why the Future of Lending Isn't About Money, It's About Trust</a:t>
            </a:r>
            <a:endParaRPr sz="5400" b="1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4650611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A7B2C9"/>
                </a:solidFill>
                <a:latin typeface="Segoe UI"/>
              </a:rPr>
              <a:t>The core lending journey,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58838"/>
            <a:ext cx="7223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8FB0FF"/>
                </a:solidFill>
                <a:latin typeface="Segoe UI"/>
              </a:rPr>
              <a:t>Register  →  Login  →  KYC  →  Deposit  →  Borrow  →  Repay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7B2C9"/>
                </a:solidFill>
                <a:latin typeface="Segoe UI"/>
              </a:rPr>
              <a:t>PrimeLendRow · Product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743200"/>
            <a:ext cx="3108960" cy="104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Every financial system is built on one invisible asset.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E6AFC-C89D-037F-83C3-97E026B0E203}"/>
              </a:ext>
            </a:extLst>
          </p:cNvPr>
          <p:cNvSpPr txBox="1"/>
          <p:nvPr/>
        </p:nvSpPr>
        <p:spPr>
          <a:xfrm>
            <a:off x="8747607" y="5433158"/>
            <a:ext cx="3108960" cy="330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2200" dirty="0">
                <a:solidFill>
                  <a:srgbClr val="FFFFFF"/>
                </a:solidFill>
                <a:latin typeface="Segoe UI"/>
              </a:rPr>
              <a:t>Trust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A36601-65E4-67AC-B295-34FD8B3AF264}"/>
              </a:ext>
            </a:extLst>
          </p:cNvPr>
          <p:cNvSpPr txBox="1"/>
          <p:nvPr/>
        </p:nvSpPr>
        <p:spPr>
          <a:xfrm>
            <a:off x="9348108" y="6111630"/>
            <a:ext cx="1907958" cy="353943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 dirty="0" err="1">
                <a:solidFill>
                  <a:srgbClr val="FFFFFF"/>
                </a:solidFill>
                <a:latin typeface="Segoe UI"/>
              </a:rPr>
              <a:t>Prime</a:t>
            </a:r>
            <a:r>
              <a:rPr sz="2000" b="1" dirty="0" err="1">
                <a:solidFill>
                  <a:srgbClr val="8FB0FF"/>
                </a:solidFill>
                <a:latin typeface="Segoe UI"/>
              </a:rPr>
              <a:t>LendRow</a:t>
            </a:r>
            <a:endParaRPr sz="2000" b="1" dirty="0">
              <a:solidFill>
                <a:srgbClr val="8FB0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FFFFFF"/>
                </a:solidFill>
                <a:latin typeface="Segoe UI"/>
              </a:rPr>
              <a:t>Prime</a:t>
            </a:r>
            <a:r>
              <a:rPr sz="1300" b="1" dirty="0" err="1">
                <a:solidFill>
                  <a:srgbClr val="8FB0FF"/>
                </a:solidFill>
                <a:latin typeface="Segoe UI"/>
              </a:rPr>
              <a:t>LendRow</a:t>
            </a:r>
            <a:endParaRPr sz="1300" b="1" dirty="0">
              <a:solidFill>
                <a:srgbClr val="8FB0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FB0FF"/>
                </a:solidFill>
                <a:latin typeface="Segoe UI"/>
              </a:rPr>
              <a:t>THE MVP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Six steps, one connected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548640" cy="508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5711" y="2880360"/>
            <a:ext cx="1627632" cy="2331720"/>
          </a:xfrm>
          <a:prstGeom prst="roundRect">
            <a:avLst>
              <a:gd name="adj" fmla="val 6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2871" y="3081528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871" y="3749040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871" y="4160520"/>
            <a:ext cx="1353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E3EAFF"/>
                </a:solidFill>
                <a:latin typeface="Segoe UI"/>
              </a:rPr>
              <a:t>Email + OTP</a:t>
            </a:r>
          </a:p>
        </p:txBody>
      </p:sp>
      <p:sp>
        <p:nvSpPr>
          <p:cNvPr id="10" name="Chevron 9"/>
          <p:cNvSpPr/>
          <p:nvPr/>
        </p:nvSpPr>
        <p:spPr>
          <a:xfrm>
            <a:off x="2063343" y="3881628"/>
            <a:ext cx="310896" cy="329184"/>
          </a:xfrm>
          <a:prstGeom prst="chevron">
            <a:avLst/>
          </a:prstGeom>
          <a:solidFill>
            <a:srgbClr val="8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74239" y="2880360"/>
            <a:ext cx="1627632" cy="2331720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1399" y="3081528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8FB0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1399" y="3749040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1399" y="4160520"/>
            <a:ext cx="1353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7B2C9"/>
                </a:solidFill>
                <a:latin typeface="Segoe UI"/>
              </a:rPr>
              <a:t>Email or username</a:t>
            </a:r>
          </a:p>
        </p:txBody>
      </p:sp>
      <p:sp>
        <p:nvSpPr>
          <p:cNvPr id="15" name="Chevron 14"/>
          <p:cNvSpPr/>
          <p:nvPr/>
        </p:nvSpPr>
        <p:spPr>
          <a:xfrm>
            <a:off x="4001871" y="3881628"/>
            <a:ext cx="310896" cy="329184"/>
          </a:xfrm>
          <a:prstGeom prst="chevron">
            <a:avLst/>
          </a:prstGeom>
          <a:solidFill>
            <a:srgbClr val="8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12767" y="2880360"/>
            <a:ext cx="1627632" cy="2331720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9927" y="3081528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8FB0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9927" y="3749040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KYC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4160520"/>
            <a:ext cx="1353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7B2C9"/>
                </a:solidFill>
                <a:latin typeface="Segoe UI"/>
              </a:rPr>
              <a:t>ID · liveness · wallet</a:t>
            </a:r>
          </a:p>
        </p:txBody>
      </p:sp>
      <p:sp>
        <p:nvSpPr>
          <p:cNvPr id="20" name="Chevron 19"/>
          <p:cNvSpPr/>
          <p:nvPr/>
        </p:nvSpPr>
        <p:spPr>
          <a:xfrm>
            <a:off x="5940399" y="3881628"/>
            <a:ext cx="310896" cy="329184"/>
          </a:xfrm>
          <a:prstGeom prst="chevron">
            <a:avLst/>
          </a:prstGeom>
          <a:solidFill>
            <a:srgbClr val="8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51295" y="2880360"/>
            <a:ext cx="1627632" cy="2331720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8455" y="3081528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8FB0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455" y="3749040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Deposit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8455" y="4160520"/>
            <a:ext cx="1353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7B2C9"/>
                </a:solidFill>
                <a:latin typeface="Segoe UI"/>
              </a:rPr>
              <a:t>Fund the pool</a:t>
            </a:r>
          </a:p>
        </p:txBody>
      </p:sp>
      <p:sp>
        <p:nvSpPr>
          <p:cNvPr id="25" name="Chevron 24"/>
          <p:cNvSpPr/>
          <p:nvPr/>
        </p:nvSpPr>
        <p:spPr>
          <a:xfrm>
            <a:off x="7878927" y="3881628"/>
            <a:ext cx="310896" cy="329184"/>
          </a:xfrm>
          <a:prstGeom prst="chevron">
            <a:avLst/>
          </a:prstGeom>
          <a:solidFill>
            <a:srgbClr val="8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89823" y="2880360"/>
            <a:ext cx="1627632" cy="2331720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6983" y="3081528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8FB0FF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6983" y="3749040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Borrow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6983" y="4160520"/>
            <a:ext cx="1353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7B2C9"/>
                </a:solidFill>
                <a:latin typeface="Segoe UI"/>
              </a:rPr>
              <a:t>Apply for a loan</a:t>
            </a:r>
          </a:p>
        </p:txBody>
      </p:sp>
      <p:sp>
        <p:nvSpPr>
          <p:cNvPr id="30" name="Chevron 29"/>
          <p:cNvSpPr/>
          <p:nvPr/>
        </p:nvSpPr>
        <p:spPr>
          <a:xfrm>
            <a:off x="9817455" y="3881628"/>
            <a:ext cx="310896" cy="329184"/>
          </a:xfrm>
          <a:prstGeom prst="chevron">
            <a:avLst/>
          </a:prstGeom>
          <a:solidFill>
            <a:srgbClr val="8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28351" y="2880360"/>
            <a:ext cx="1627632" cy="2331720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65511" y="3081528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8FB0FF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5511" y="3749040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Repay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5511" y="4160520"/>
            <a:ext cx="1353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7B2C9"/>
                </a:solidFill>
                <a:latin typeface="Segoe UI"/>
              </a:rPr>
              <a:t>Pay via PayPal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A7B2C9"/>
                </a:solidFill>
                <a:latin typeface="Segoe UI"/>
              </a:rPr>
              <a:t>Everything before Deposit is single-user setup; Deposit, Borrow, and Repay are where real pesos move through the pool.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Prime</a:t>
            </a:r>
            <a:r>
              <a:rPr sz="1300" b="1">
                <a:solidFill>
                  <a:srgbClr val="8FB0FF"/>
                </a:solidFill>
                <a:latin typeface="Segoe UI"/>
              </a:rPr>
              <a:t>LendRow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74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8FB0FF"/>
                </a:solidFill>
                <a:latin typeface="Segoe UI"/>
              </a:rPr>
              <a:t>STEP 1–2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FB0FF"/>
                </a:solidFill>
                <a:latin typeface="Segoe UI"/>
              </a:rPr>
              <a:t>STEP 1–2 ·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Register &amp;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548640" cy="508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4160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Create an account with an email, username, and password.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An OTP sent by email must be verified before the account exists.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Starting state: Role Pending · Credit Score 50 · Wallet Not Connected · KYC Not Submitted.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Once logged in, a Pending user can view pool stats and manage settings — lending, borrowing, and guarantor actions stay locked until KYC clears.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2548466"/>
            <a:ext cx="6656832" cy="3086947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uth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30762"/>
            <a:ext cx="6492240" cy="29223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Prime</a:t>
            </a:r>
            <a:r>
              <a:rPr sz="1300" b="1">
                <a:solidFill>
                  <a:srgbClr val="8FB0FF"/>
                </a:solidFill>
                <a:latin typeface="Segoe UI"/>
              </a:rPr>
              <a:t>LendRow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74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8FB0FF"/>
                </a:solidFill>
                <a:latin typeface="Segoe UI"/>
              </a:rPr>
              <a:t>STEP 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FB0FF"/>
                </a:solidFill>
                <a:latin typeface="Segoe UI"/>
              </a:rPr>
              <a:t>STEP 3 ·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KYC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548640" cy="508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4160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A 5-step wizard: ID upload → OCR scan → liveness + face match → connect wallet → review &amp; submit.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Supports PhilSys ID, Driver's License, Passport, and Postal ID; OCR auto-fills name, DOB, and ID number for review.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A live blink challenge plus face-match against the ID portrait confirms it's really the applicant.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The Stellar wallet connected here becomes the account's KYC-verified wallet.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Admin approval flips the role: Under Review → Approved → Role =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2510133"/>
            <a:ext cx="6656832" cy="3163614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kyc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92429"/>
            <a:ext cx="6492240" cy="29990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Prime</a:t>
            </a:r>
            <a:r>
              <a:rPr sz="1300" b="1">
                <a:solidFill>
                  <a:srgbClr val="8FB0FF"/>
                </a:solidFill>
                <a:latin typeface="Segoe UI"/>
              </a:rPr>
              <a:t>LendRow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74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8FB0FF"/>
                </a:solidFill>
                <a:latin typeface="Segoe UI"/>
              </a:rPr>
              <a:t>STEP 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FB0FF"/>
                </a:solidFill>
                <a:latin typeface="Segoe UI"/>
              </a:rPr>
              <a:t>STEP 4 ·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Deposit to the Pool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548640" cy="508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4160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Deposits are never refused — funds join the shared community pool and become Withdrawable.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Rate &amp; limit tiers scale with credit score, from ₱5,000 at 6%/mo (score 50–69) up to ₱100,000 at 3%/mo (130–150).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Deposit-backed and XLM-collateral loans use the secured rate; guarantor backing can double a member's cap.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Deposits fund the community — borrower interest flows back to lenders; PayPal is the deposit 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2530442"/>
            <a:ext cx="6656832" cy="3122995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ending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12738"/>
            <a:ext cx="6492240" cy="29584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Prime</a:t>
            </a:r>
            <a:r>
              <a:rPr sz="1300" b="1">
                <a:solidFill>
                  <a:srgbClr val="8FB0FF"/>
                </a:solidFill>
                <a:latin typeface="Segoe UI"/>
              </a:rPr>
              <a:t>LendRow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74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8FB0FF"/>
                </a:solidFill>
                <a:latin typeface="Segoe UI"/>
              </a:rPr>
              <a:t>STEP 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FB0FF"/>
                </a:solidFill>
                <a:latin typeface="Segoe UI"/>
              </a:rPr>
              <a:t>STEP 5 · BORROWING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Apply for a Loan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548640" cy="508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4160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Three products: Deposit-backed loan, XLM-collateral loan, and Guarantor loan.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Eligibility, rate, and max loan size come straight from the member's credit-score tier.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Borrower sets the amount and term and authorizes the deposit hold that secures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Past and active loans are tracked on the same screen, with status through to Closed.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2530442"/>
            <a:ext cx="6656832" cy="3122995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orrow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12738"/>
            <a:ext cx="6492240" cy="29584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Prime</a:t>
            </a:r>
            <a:r>
              <a:rPr sz="1300" b="1">
                <a:solidFill>
                  <a:srgbClr val="8FB0FF"/>
                </a:solidFill>
                <a:latin typeface="Segoe UI"/>
              </a:rPr>
              <a:t>LendRow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74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8FB0FF"/>
                </a:solidFill>
                <a:latin typeface="Segoe UI"/>
              </a:rPr>
              <a:t>STEP 6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FB0FF"/>
                </a:solidFill>
                <a:latin typeface="Segoe UI"/>
              </a:rPr>
              <a:t>STEP 6 · REPAYMENT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Repay the Loan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548640" cy="508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4160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A diminishing-balance schedule is generated per loan — interest shrinks as principal is repaid.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Repayment is submitted through PayPal against the current installment.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Every payment updates the outstanding balance immediately, split into principal and interest.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A7B2C9"/>
                </a:solidFill>
                <a:latin typeface="Segoe UI"/>
              </a:rPr>
              <a:t>•  Full payment history and repaid-to-date totals stay visible for the life of the loan.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2521980"/>
            <a:ext cx="6656832" cy="3139919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A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ymen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04276"/>
            <a:ext cx="6492240" cy="2975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Prime</a:t>
            </a:r>
            <a:r>
              <a:rPr sz="1300" b="1">
                <a:solidFill>
                  <a:srgbClr val="8FB0FF"/>
                </a:solidFill>
                <a:latin typeface="Segoe UI"/>
              </a:rPr>
              <a:t>LendRow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</a:rPr>
              <a:t>Prime</a:t>
            </a:r>
            <a:r>
              <a:rPr sz="1600" b="1">
                <a:solidFill>
                  <a:srgbClr val="8FB0FF"/>
                </a:solidFill>
                <a:latin typeface="Segoe UI"/>
              </a:rPr>
              <a:t>LendRow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One flow, fully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7B2C9"/>
                </a:solidFill>
                <a:latin typeface="Segoe UI"/>
              </a:rPr>
              <a:t>Register → Login → KYC → Deposit → Borrow → Repay — every step above ships in the MVP.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A7B2C9"/>
                </a:solidFill>
                <a:latin typeface="Segoe UI"/>
              </a:rPr>
              <a:t>•  Guarantor participation, default handling, and Stellar blockchain anchoring build on this same spine next.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A7B2C9"/>
                </a:solidFill>
                <a:latin typeface="Segoe UI"/>
              </a:rPr>
              <a:t>•  Full detail: README.md (workflow) and ARCHITECTURE.md (system design), in the project root.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619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Kent Ryan Entice</cp:lastModifiedBy>
  <cp:revision>2</cp:revision>
  <dcterms:created xsi:type="dcterms:W3CDTF">2013-01-27T09:14:16Z</dcterms:created>
  <dcterms:modified xsi:type="dcterms:W3CDTF">2026-07-15T11:16:35Z</dcterms:modified>
  <cp:category/>
</cp:coreProperties>
</file>